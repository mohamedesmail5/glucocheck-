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 slide. Introduce GlucoCheck — a smart AI diabetes diagnosis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The problem — 537M diabetes patients globally, rising to 700M by 2045. Five key pain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The GlucoCheck solution — AI agent with image/text analysis, 4-grade classification, personalized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5-layer architecture — Frontend, Backend API, AI Agent, Database,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AI Agent with 4 diagnosis grades, from pre-diabetic (Grade 0) to severe (Grade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Full 8-step data flow with session isolation security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Complete tech stack across 5 layers plus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Team of 5 — 2 backend devs, 2 frontend devs, 1 data analyst.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Agile roadmap with 6 sprints over 10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8 security layers and 8 KPI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10-step patient journey from registration to session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Advanced features — AI cross-session memory, PWA support, predictive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Apache Superset Dashboard with 8 interactive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Closing slide. GlucoCheck — Smart, Secure, Scalable diabetes AI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371600" cy="1371600"/>
          </a:xfrm>
          <a:prstGeom prst="ellipse">
            <a:avLst/>
          </a:prstGeom>
          <a:solidFill>
            <a:srgbClr val="0F2040"/>
          </a:solidFill>
          <a:ln/>
          <a:effectLst>
            <a:outerShdw sx="100000" sy="100000" kx="0" ky="0" algn="bl" rotWithShape="0" blurRad="317500" dist="50800" dir="2700000">
              <a:srgbClr val="00BCD4">
                <a:alpha val="5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4572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GlucoCheck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2103120" y="12801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Diabetes Diagnosis Agent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8229600" cy="594360"/>
          </a:xfrm>
          <a:prstGeom prst="roundedRect">
            <a:avLst>
              <a:gd name="adj" fmla="val 15385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1965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التشخيص الذكي لمرضى السكري  •  Web Application  •  AI Agent  •  Real Patient Data  •  Analytics Dashboard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2743200"/>
            <a:ext cx="1965960" cy="1188720"/>
          </a:xfrm>
          <a:prstGeom prst="roundedRect">
            <a:avLst>
              <a:gd name="adj" fmla="val 9231"/>
            </a:avLst>
          </a:prstGeom>
          <a:solidFill>
            <a:srgbClr val="132952"/>
          </a:solidFill>
          <a:ln/>
          <a:effectLst>
            <a:outerShdw sx="100000" sy="100000" kx="0" ky="0" algn="bl" rotWithShape="0" blurRad="127000" dist="25400" dir="2700000">
              <a:srgbClr val="1E88E5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" y="2788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537M+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74320" y="3364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مريض سكري عالمياً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23160" y="2743200"/>
            <a:ext cx="1965960" cy="1188720"/>
          </a:xfrm>
          <a:prstGeom prst="roundedRect">
            <a:avLst>
              <a:gd name="adj" fmla="val 9231"/>
            </a:avLst>
          </a:prstGeom>
          <a:solidFill>
            <a:srgbClr val="132952"/>
          </a:solidFill>
          <a:ln/>
          <a:effectLst>
            <a:outerShdw sx="100000" sy="100000" kx="0" ky="0" algn="bl" rotWithShape="0" blurRad="127000" dist="25400" dir="2700000">
              <a:srgbClr val="1E88E5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423160" y="2788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423160" y="3364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دقة التشخيص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0" y="2743200"/>
            <a:ext cx="1965960" cy="1188720"/>
          </a:xfrm>
          <a:prstGeom prst="roundedRect">
            <a:avLst>
              <a:gd name="adj" fmla="val 9231"/>
            </a:avLst>
          </a:prstGeom>
          <a:solidFill>
            <a:srgbClr val="132952"/>
          </a:solidFill>
          <a:ln/>
          <a:effectLst>
            <a:outerShdw sx="100000" sy="100000" kx="0" ky="0" algn="bl" rotWithShape="0" blurRad="127000" dist="25400" dir="2700000">
              <a:srgbClr val="1E88E5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0" y="2788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572000" y="3364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أنواع التحليل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20840" y="2743200"/>
            <a:ext cx="1965960" cy="1188720"/>
          </a:xfrm>
          <a:prstGeom prst="roundedRect">
            <a:avLst>
              <a:gd name="adj" fmla="val 9231"/>
            </a:avLst>
          </a:prstGeom>
          <a:solidFill>
            <a:srgbClr val="132952"/>
          </a:solidFill>
          <a:ln/>
          <a:effectLst>
            <a:outerShdw sx="100000" sy="100000" kx="0" ky="0" algn="bl" rotWithShape="0" blurRad="127000" dist="25400" dir="2700000">
              <a:srgbClr val="1E88E5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720840" y="2788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720840" y="3364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طبقات معمارية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Esmail   •   Ziad Mohamed   •   Kareem Mohamed   •   Eslam Mohamed   •   Abdul Rahman Mohamed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العام الدراسي 2025 /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المشكلة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749040" y="228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3200400" cy="1828800"/>
          </a:xfrm>
          <a:prstGeom prst="roundedRect">
            <a:avLst>
              <a:gd name="adj" fmla="val 7500"/>
            </a:avLst>
          </a:prstGeom>
          <a:solidFill>
            <a:srgbClr val="E53935">
              <a:alpha val="85000"/>
            </a:srgbClr>
          </a:solidFill>
          <a:ln/>
          <a:effectLst>
            <a:outerShdw sx="100000" sy="100000" kx="0" ky="0" algn="bl" rotWithShape="0" blurRad="254000" dist="50800" dir="2700000">
              <a:srgbClr val="E53935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005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537M+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7432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مريض سكري حول العالم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700M بحلول 2045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0" y="914400"/>
            <a:ext cx="521208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0752" y="1060704"/>
            <a:ext cx="347472" cy="347472"/>
          </a:xfrm>
          <a:prstGeom prst="roundedRect">
            <a:avLst>
              <a:gd name="adj" fmla="val 15789"/>
            </a:avLst>
          </a:prstGeom>
          <a:solidFill>
            <a:srgbClr val="E53935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730752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60520" y="950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التأخر في التشخيص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60520" y="1216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كثير من المرضى يكتشفون مرضهم في مراحل متأخرة جداً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0" y="1691640"/>
            <a:ext cx="521208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30752" y="1837944"/>
            <a:ext cx="347472" cy="347472"/>
          </a:xfrm>
          <a:prstGeom prst="roundedRect">
            <a:avLst>
              <a:gd name="adj" fmla="val 15789"/>
            </a:avLst>
          </a:prstGeom>
          <a:solidFill>
            <a:srgbClr val="E53935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730752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60520" y="1728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الوعي الصحي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6052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المريض لا يعرف في أيِّ مرحلة هو ولا كيف يتعامل مع حالته يومياً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0" y="2468880"/>
            <a:ext cx="521208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730752" y="2615184"/>
            <a:ext cx="347472" cy="347472"/>
          </a:xfrm>
          <a:prstGeom prst="roundedRect">
            <a:avLst>
              <a:gd name="adj" fmla="val 15789"/>
            </a:avLst>
          </a:prstGeom>
          <a:solidFill>
            <a:srgbClr val="E53935">
              <a:alpha val="8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730752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60520" y="2505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ضغط على المنظومة الصحية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60520" y="2770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الطوابير الطويلة تحرم المريض من استشارة سريعة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0" y="3246120"/>
            <a:ext cx="521208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730752" y="3392424"/>
            <a:ext cx="347472" cy="347472"/>
          </a:xfrm>
          <a:prstGeom prst="roundedRect">
            <a:avLst>
              <a:gd name="adj" fmla="val 15789"/>
            </a:avLst>
          </a:prstGeom>
          <a:solidFill>
            <a:srgbClr val="E53935">
              <a:alpha val="8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3730752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160520" y="3282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نقص أدوات رقمية متخصصة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160520" y="3547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توجد منصة عربية ذكية تجمع التشخيص بالنصيحة الشخصية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657600" y="4023360"/>
            <a:ext cx="521208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730752" y="4169664"/>
            <a:ext cx="347472" cy="347472"/>
          </a:xfrm>
          <a:prstGeom prst="roundedRect">
            <a:avLst>
              <a:gd name="adj" fmla="val 15789"/>
            </a:avLst>
          </a:prstGeom>
          <a:solidFill>
            <a:srgbClr val="E53935">
              <a:alpha val="8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3730752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160520" y="4059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تشابك بيانات المرضى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160520" y="4325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الأنظمة التقليدية تختلط البيانات مما يهدد الخصوصية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الحل الذكي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20624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GlucoCheck Agent Solution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8595360" cy="1005840"/>
          </a:xfrm>
          <a:prstGeom prst="roundedRect">
            <a:avLst>
              <a:gd name="adj" fmla="val 10909"/>
            </a:avLst>
          </a:prstGeom>
          <a:solidFill>
            <a:srgbClr val="132952"/>
          </a:solidFill>
          <a:ln/>
          <a:effectLst>
            <a:outerShdw sx="100000" sy="100000" kx="0" ky="0" algn="bl" rotWithShape="0" blurRad="228600" dist="50800" dir="2700000">
              <a:srgbClr val="00BCD4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ويب متكاملة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تتيح لمريض السكري إرسال صورة طبية أو وصف نصي لأعراضه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وكيل ذكاء اصطناعي متخصص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يُحلّل المدخلات ويُصنّف الحالة ويُولّد نصائح شخصية مخصصة — كل هذا خلال ثوانٍ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67335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مريض يمتلك جلسة محادثة منفصلة تماماً تضمن الخصوصية المطلقة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011680"/>
            <a:ext cx="2011680" cy="1920240"/>
          </a:xfrm>
          <a:prstGeom prst="roundedRect">
            <a:avLst>
              <a:gd name="adj" fmla="val 5714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9264" y="2103120"/>
            <a:ext cx="594360" cy="594360"/>
          </a:xfrm>
          <a:prstGeom prst="ellipse">
            <a:avLst/>
          </a:prstGeom>
          <a:solidFill>
            <a:srgbClr val="00BCD4">
              <a:alpha val="8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16712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الصور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0040" y="31272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شبكية العين، القدم السكرية، التقارير المخبرية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450592" y="2011680"/>
            <a:ext cx="2011680" cy="1920240"/>
          </a:xfrm>
          <a:prstGeom prst="roundedRect">
            <a:avLst>
              <a:gd name="adj" fmla="val 5714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45536" y="2103120"/>
            <a:ext cx="594360" cy="594360"/>
          </a:xfrm>
          <a:prstGeom prst="ellipse">
            <a:avLst/>
          </a:prstGeom>
          <a:solidFill>
            <a:srgbClr val="FFD600">
              <a:alpha val="8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216712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96312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النصوص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496312" y="31272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أعراض المريض، قراءات السكر، تاريخ المرض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26864" y="2011680"/>
            <a:ext cx="2011680" cy="1920240"/>
          </a:xfrm>
          <a:prstGeom prst="roundedRect">
            <a:avLst>
              <a:gd name="adj" fmla="val 5714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321808" y="2103120"/>
            <a:ext cx="594360" cy="594360"/>
          </a:xfrm>
          <a:prstGeom prst="ellipse">
            <a:avLst/>
          </a:prstGeom>
          <a:solidFill>
            <a:srgbClr val="009688">
              <a:alpha val="8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816" y="216712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72584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تصنيف 4 درجات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672584" y="31272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0 → 3 بناءً على البيانات المُقدَّمة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803136" y="2011680"/>
            <a:ext cx="2011680" cy="1920240"/>
          </a:xfrm>
          <a:prstGeom prst="roundedRect">
            <a:avLst>
              <a:gd name="adj" fmla="val 5714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0" y="2103120"/>
            <a:ext cx="594360" cy="594360"/>
          </a:xfrm>
          <a:prstGeom prst="ellipse">
            <a:avLst/>
          </a:prstGeom>
          <a:solidFill>
            <a:srgbClr val="FB8C00">
              <a:alpha val="80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216712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48856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نصائح مخصصة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848856" y="31272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تغذية، رياضة، دواء، مواعيد المتابعة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74320" y="4069080"/>
            <a:ext cx="8595360" cy="731520"/>
          </a:xfrm>
          <a:prstGeom prst="roundedRect">
            <a:avLst>
              <a:gd name="adj" fmla="val 12500"/>
            </a:avLst>
          </a:prstGeom>
          <a:solidFill>
            <a:srgbClr val="0D2B5C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41422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 الاستراتيجي: تمكين المريض من التشخيص الذاتي الأولي بدقة 85%+ مع حماية خصوصية بياناته بعزل كامل بين الجلسات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معمارية النظام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0" y="2103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System Architecture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859536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00BCD4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84048" y="1078992"/>
            <a:ext cx="237744" cy="237744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92354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4300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121615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Tailwind · Axios · Socket.io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55080" y="1014984"/>
            <a:ext cx="2377440" cy="329184"/>
          </a:xfrm>
          <a:prstGeom prst="roundedRect">
            <a:avLst>
              <a:gd name="adj" fmla="val 27778"/>
            </a:avLst>
          </a:prstGeom>
          <a:solidFill>
            <a:srgbClr val="00BCD4">
              <a:alpha val="2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1014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Kareem + Eslam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0" y="1536192"/>
            <a:ext cx="365760" cy="109728"/>
          </a:xfrm>
          <a:prstGeom prst="rect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" y="1673352"/>
            <a:ext cx="859536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1E88E5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84048" y="1883664"/>
            <a:ext cx="237744" cy="23774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172821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8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43000" y="1719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Layer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202082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· JWT · Pydantic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355080" y="1819656"/>
            <a:ext cx="2377440" cy="329184"/>
          </a:xfrm>
          <a:prstGeom prst="roundedRect">
            <a:avLst>
              <a:gd name="adj" fmla="val 27778"/>
            </a:avLst>
          </a:prstGeom>
          <a:solidFill>
            <a:srgbClr val="1E88E5">
              <a:alpha val="2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18196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+ Ziad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89120" y="2340864"/>
            <a:ext cx="365760" cy="109728"/>
          </a:xfrm>
          <a:prstGeom prst="rect">
            <a:avLst/>
          </a:prstGeom>
          <a:solidFill>
            <a:srgbClr val="FFD600">
              <a:alpha val="6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74320" y="2478024"/>
            <a:ext cx="859536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FFD6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84048" y="2688336"/>
            <a:ext cx="237744" cy="237744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25328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143000" y="2523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Layer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43000" y="282549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NLP · Custom CNN · LangChain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55080" y="2624328"/>
            <a:ext cx="2377440" cy="329184"/>
          </a:xfrm>
          <a:prstGeom prst="roundedRect">
            <a:avLst>
              <a:gd name="adj" fmla="val 27778"/>
            </a:avLst>
          </a:prstGeom>
          <a:solidFill>
            <a:srgbClr val="FFD600">
              <a:alpha val="2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355080" y="2624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+ Ziad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389120" y="3145536"/>
            <a:ext cx="365760" cy="109728"/>
          </a:xfrm>
          <a:prstGeom prst="rect">
            <a:avLst/>
          </a:prstGeom>
          <a:solidFill>
            <a:srgbClr val="009688">
              <a:alpha val="6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4320" y="3282696"/>
            <a:ext cx="859536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009688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84048" y="3493008"/>
            <a:ext cx="237744" cy="237744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" y="3337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1143000" y="3328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143000" y="3630168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Realtime · SQLAlchemy · Storage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355080" y="3429000"/>
            <a:ext cx="2377440" cy="329184"/>
          </a:xfrm>
          <a:prstGeom prst="roundedRect">
            <a:avLst>
              <a:gd name="adj" fmla="val 27778"/>
            </a:avLst>
          </a:prstGeom>
          <a:solidFill>
            <a:srgbClr val="009688">
              <a:alpha val="25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355080" y="34290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Rahman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389120" y="3950208"/>
            <a:ext cx="365760" cy="109728"/>
          </a:xfrm>
          <a:prstGeom prst="rect">
            <a:avLst/>
          </a:prstGeom>
          <a:solidFill>
            <a:srgbClr val="FB8C00">
              <a:alpha val="6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274320" y="4087368"/>
            <a:ext cx="8595360" cy="658368"/>
          </a:xfrm>
          <a:prstGeom prst="roundedRect">
            <a:avLst>
              <a:gd name="adj" fmla="val 1388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FB8C00">
                <a:alpha val="3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84048" y="4297680"/>
            <a:ext cx="237744" cy="237744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" y="414223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8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1143000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143000" y="443484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Apache Superset · Matplotlib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355080" y="4233672"/>
            <a:ext cx="2377440" cy="329184"/>
          </a:xfrm>
          <a:prstGeom prst="roundedRect">
            <a:avLst>
              <a:gd name="adj" fmla="val 27778"/>
            </a:avLst>
          </a:prstGeom>
          <a:solidFill>
            <a:srgbClr val="FB8C00">
              <a:alpha val="25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355080" y="4233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Rahman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وكيل الذكاء الاصطناعي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120640" y="2103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&amp; Diagnosis Grades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2011680" cy="3108960"/>
          </a:xfrm>
          <a:prstGeom prst="roundedRect">
            <a:avLst>
              <a:gd name="adj" fmla="val 6364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77800" dist="50800" dir="2700000">
              <a:srgbClr val="009688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896112"/>
            <a:ext cx="1828800" cy="475488"/>
          </a:xfrm>
          <a:prstGeom prst="roundedRect">
            <a:avLst>
              <a:gd name="adj" fmla="val 19231"/>
            </a:avLst>
          </a:prstGeom>
          <a:solidFill>
            <a:srgbClr val="009688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896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2004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طبيعي / ما قبل السكري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مستوى السكر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2148840"/>
            <a:ext cx="1737360" cy="164592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148840"/>
            <a:ext cx="434340" cy="164592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100–125 mg/dL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697480"/>
            <a:ext cx="1828800" cy="594360"/>
          </a:xfrm>
          <a:prstGeom prst="roundedRect">
            <a:avLst>
              <a:gd name="adj" fmla="val 12308"/>
            </a:avLst>
          </a:prstGeom>
          <a:solidFill>
            <a:srgbClr val="009688">
              <a:alpha val="2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7249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وقاية + نمط حياة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50592" y="822960"/>
            <a:ext cx="2011680" cy="3108960"/>
          </a:xfrm>
          <a:prstGeom prst="roundedRect">
            <a:avLst>
              <a:gd name="adj" fmla="val 6364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77800" dist="50800" dir="2700000">
              <a:srgbClr val="43A047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896112"/>
            <a:ext cx="1828800" cy="475488"/>
          </a:xfrm>
          <a:prstGeom prst="roundedRect">
            <a:avLst>
              <a:gd name="adj" fmla="val 19231"/>
            </a:avLst>
          </a:prstGeom>
          <a:solidFill>
            <a:srgbClr val="43A047"/>
          </a:solidFill>
          <a:ln/>
        </p:spPr>
      </p:sp>
      <p:sp>
        <p:nvSpPr>
          <p:cNvPr id="18" name="Text 15"/>
          <p:cNvSpPr/>
          <p:nvPr/>
        </p:nvSpPr>
        <p:spPr>
          <a:xfrm>
            <a:off x="2542032" y="896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496312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سكري خفيف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542032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مستوى السكر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87752" y="2148840"/>
            <a:ext cx="1737360" cy="164592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87752" y="2148840"/>
            <a:ext cx="868680" cy="16459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3" name="Text 20"/>
          <p:cNvSpPr/>
          <p:nvPr/>
        </p:nvSpPr>
        <p:spPr>
          <a:xfrm>
            <a:off x="2496312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126–180 mg/dL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42032" y="2697480"/>
            <a:ext cx="1828800" cy="594360"/>
          </a:xfrm>
          <a:prstGeom prst="roundedRect">
            <a:avLst>
              <a:gd name="adj" fmla="val 12308"/>
            </a:avLst>
          </a:prstGeom>
          <a:solidFill>
            <a:srgbClr val="43A047">
              <a:alpha val="2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2542032" y="27249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غذائي + متابعة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26864" y="822960"/>
            <a:ext cx="2011680" cy="3108960"/>
          </a:xfrm>
          <a:prstGeom prst="roundedRect">
            <a:avLst>
              <a:gd name="adj" fmla="val 6364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77800" dist="50800" dir="2700000">
              <a:srgbClr val="FB8C00">
                <a:alpha val="4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18304" y="896112"/>
            <a:ext cx="1828800" cy="475488"/>
          </a:xfrm>
          <a:prstGeom prst="roundedRect">
            <a:avLst>
              <a:gd name="adj" fmla="val 19231"/>
            </a:avLst>
          </a:prstGeom>
          <a:solidFill>
            <a:srgbClr val="FB8C00"/>
          </a:solidFill>
          <a:ln/>
        </p:spPr>
      </p:sp>
      <p:sp>
        <p:nvSpPr>
          <p:cNvPr id="28" name="Text 25"/>
          <p:cNvSpPr/>
          <p:nvPr/>
        </p:nvSpPr>
        <p:spPr>
          <a:xfrm>
            <a:off x="4718304" y="896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2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672584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سكري متوسط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18304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مستوى السكر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64024" y="2148840"/>
            <a:ext cx="1737360" cy="164592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64024" y="2148840"/>
            <a:ext cx="1303020" cy="164592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3" name="Text 30"/>
          <p:cNvSpPr/>
          <p:nvPr/>
        </p:nvSpPr>
        <p:spPr>
          <a:xfrm>
            <a:off x="4672584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180–300 mg/dL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18304" y="2697480"/>
            <a:ext cx="1828800" cy="594360"/>
          </a:xfrm>
          <a:prstGeom prst="roundedRect">
            <a:avLst>
              <a:gd name="adj" fmla="val 12308"/>
            </a:avLst>
          </a:prstGeom>
          <a:solidFill>
            <a:srgbClr val="FB8C00">
              <a:alpha val="25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4718304" y="27249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أدوية + خطة مكثفة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803136" y="822960"/>
            <a:ext cx="2011680" cy="3108960"/>
          </a:xfrm>
          <a:prstGeom prst="roundedRect">
            <a:avLst>
              <a:gd name="adj" fmla="val 6364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77800" dist="50800" dir="2700000">
              <a:srgbClr val="E53935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894576" y="896112"/>
            <a:ext cx="1828800" cy="475488"/>
          </a:xfrm>
          <a:prstGeom prst="roundedRect">
            <a:avLst>
              <a:gd name="adj" fmla="val 19231"/>
            </a:avLst>
          </a:prstGeom>
          <a:solidFill>
            <a:srgbClr val="E53935"/>
          </a:solidFill>
          <a:ln/>
        </p:spPr>
      </p:sp>
      <p:sp>
        <p:nvSpPr>
          <p:cNvPr id="38" name="Text 35"/>
          <p:cNvSpPr/>
          <p:nvPr/>
        </p:nvSpPr>
        <p:spPr>
          <a:xfrm>
            <a:off x="6894576" y="896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3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848856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سكري حاد / مزمن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94576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مستوى السكر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940296" y="2148840"/>
            <a:ext cx="1737360" cy="164592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940296" y="2148840"/>
            <a:ext cx="1737360" cy="16459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3" name="Text 40"/>
          <p:cNvSpPr/>
          <p:nvPr/>
        </p:nvSpPr>
        <p:spPr>
          <a:xfrm>
            <a:off x="6848856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mg/dL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894576" y="2697480"/>
            <a:ext cx="1828800" cy="594360"/>
          </a:xfrm>
          <a:prstGeom prst="roundedRect">
            <a:avLst>
              <a:gd name="adj" fmla="val 12308"/>
            </a:avLst>
          </a:prstGeom>
          <a:solidFill>
            <a:srgbClr val="E53935">
              <a:alpha val="25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894576" y="27249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إحالة طبية فورية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74320" y="4069080"/>
            <a:ext cx="8595360" cy="777240"/>
          </a:xfrm>
          <a:prstGeom prst="roundedRect">
            <a:avLst>
              <a:gd name="adj" fmla="val 14118"/>
            </a:avLst>
          </a:prstGeom>
          <a:solidFill>
            <a:srgbClr val="132952"/>
          </a:solidFill>
          <a:ln/>
        </p:spPr>
      </p:sp>
      <p:sp>
        <p:nvSpPr>
          <p:cNvPr id="47" name="Text 44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قدرات الوكيل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57200" y="4416552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9" name="Text 46"/>
          <p:cNvSpPr/>
          <p:nvPr/>
        </p:nvSpPr>
        <p:spPr>
          <a:xfrm>
            <a:off x="603504" y="43799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صور شبكية العين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1874520" y="4416552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1" name="Text 48"/>
          <p:cNvSpPr/>
          <p:nvPr/>
        </p:nvSpPr>
        <p:spPr>
          <a:xfrm>
            <a:off x="2020824" y="43799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القدم السكرية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3291840" y="4416552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3" name="Text 50"/>
          <p:cNvSpPr/>
          <p:nvPr/>
        </p:nvSpPr>
        <p:spPr>
          <a:xfrm>
            <a:off x="3438144" y="43799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قراءة التقارير المخبرية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709160" y="4416552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5" name="Text 52"/>
          <p:cNvSpPr/>
          <p:nvPr/>
        </p:nvSpPr>
        <p:spPr>
          <a:xfrm>
            <a:off x="4855464" y="43799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6126480" y="4416552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7" name="Text 54"/>
          <p:cNvSpPr/>
          <p:nvPr/>
        </p:nvSpPr>
        <p:spPr>
          <a:xfrm>
            <a:off x="6272784" y="43799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Real-time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543800" y="4416552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9" name="Text 56"/>
          <p:cNvSpPr/>
          <p:nvPr/>
        </p:nvSpPr>
        <p:spPr>
          <a:xfrm>
            <a:off x="7690104" y="43799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Memory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تدفق البيانات الكامل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303520" y="210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Flow — 8 Steps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82880" y="914400"/>
            <a:ext cx="640080" cy="6400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27000" dist="50800" dir="2700000">
              <a:srgbClr val="00BCD4">
                <a:alpha val="5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8288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1248" y="1197864"/>
            <a:ext cx="438912" cy="54864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الدخول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298448" y="914400"/>
            <a:ext cx="640080" cy="640080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127000" dist="50800" dir="2700000">
              <a:srgbClr val="1E88E5">
                <a:alpha val="5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29844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956816" y="1197864"/>
            <a:ext cx="438912" cy="54864"/>
          </a:xfrm>
          <a:prstGeom prst="rect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61288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Session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61288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فريد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414016" y="914400"/>
            <a:ext cx="640080" cy="640080"/>
          </a:xfrm>
          <a:prstGeom prst="ellipse">
            <a:avLst/>
          </a:prstGeom>
          <a:solidFill>
            <a:srgbClr val="FFD600"/>
          </a:solidFill>
          <a:ln/>
          <a:effectLst>
            <a:outerShdw sx="100000" sy="100000" kx="0" ky="0" algn="bl" rotWithShape="0" blurRad="127000" dist="50800" dir="2700000">
              <a:srgbClr val="FFD600">
                <a:alpha val="5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414016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072384" y="1197864"/>
            <a:ext cx="438912" cy="54864"/>
          </a:xfrm>
          <a:prstGeom prst="rect">
            <a:avLst/>
          </a:prstGeom>
          <a:solidFill>
            <a:srgbClr val="FFD600">
              <a:alpha val="6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2276856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إرسال الرسالة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276856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 / صورة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529584" y="914400"/>
            <a:ext cx="640080" cy="640080"/>
          </a:xfrm>
          <a:prstGeom prst="ellipse">
            <a:avLst/>
          </a:prstGeom>
          <a:solidFill>
            <a:srgbClr val="009688"/>
          </a:solidFill>
          <a:ln/>
          <a:effectLst>
            <a:outerShdw sx="100000" sy="100000" kx="0" ky="0" algn="bl" rotWithShape="0" blurRad="127000" dist="50800" dir="2700000">
              <a:srgbClr val="009688">
                <a:alpha val="5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29584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187952" y="1197864"/>
            <a:ext cx="438912" cy="54864"/>
          </a:xfrm>
          <a:prstGeom prst="rect">
            <a:avLst/>
          </a:prstGeom>
          <a:solidFill>
            <a:srgbClr val="009688">
              <a:alpha val="6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392424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التحقق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392424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Context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645152" y="914400"/>
            <a:ext cx="640080" cy="640080"/>
          </a:xfrm>
          <a:prstGeom prst="ellipse">
            <a:avLst/>
          </a:prstGeom>
          <a:solidFill>
            <a:srgbClr val="FB8C00"/>
          </a:solidFill>
          <a:ln/>
          <a:effectLst>
            <a:outerShdw sx="100000" sy="100000" kx="0" ky="0" algn="bl" rotWithShape="0" blurRad="127000" dist="50800" dir="2700000">
              <a:srgbClr val="FB8C00">
                <a:alpha val="5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645152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303520" y="1197864"/>
            <a:ext cx="438912" cy="54864"/>
          </a:xfrm>
          <a:prstGeom prst="rect">
            <a:avLst/>
          </a:prstGeom>
          <a:solidFill>
            <a:srgbClr val="FB8C00">
              <a:alpha val="6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507992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رفع الصورة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507992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760720" y="914400"/>
            <a:ext cx="640080" cy="640080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127000" dist="50800" dir="2700000">
              <a:srgbClr val="E53935">
                <a:alpha val="5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76072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6419088" y="1197864"/>
            <a:ext cx="438912" cy="54864"/>
          </a:xfrm>
          <a:prstGeom prst="rect">
            <a:avLst/>
          </a:prstGeom>
          <a:solidFill>
            <a:srgbClr val="E53935">
              <a:alpha val="6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623560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تحليل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623560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0-3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876288" y="914400"/>
            <a:ext cx="640080" cy="64008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27000" dist="50800" dir="2700000">
              <a:srgbClr val="00BCD4">
                <a:alpha val="5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876288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7534656" y="1197864"/>
            <a:ext cx="438912" cy="54864"/>
          </a:xfrm>
          <a:prstGeom prst="rect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6739128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739128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7991856" y="914400"/>
            <a:ext cx="640080" cy="640080"/>
          </a:xfrm>
          <a:prstGeom prst="ellipse">
            <a:avLst/>
          </a:prstGeom>
          <a:solidFill>
            <a:srgbClr val="009688"/>
          </a:solidFill>
          <a:ln/>
          <a:effectLst>
            <a:outerShdw sx="100000" sy="100000" kx="0" ky="0" algn="bl" rotWithShape="0" blurRad="127000" dist="50800" dir="2700000">
              <a:srgbClr val="009688">
                <a:alpha val="5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7991856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7854696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حفظ في DB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854696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274320" y="2331720"/>
            <a:ext cx="8595360" cy="1371600"/>
          </a:xfrm>
          <a:prstGeom prst="roundedRect">
            <a:avLst>
              <a:gd name="adj" fmla="val 9333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90500" dist="50800" dir="2700000">
              <a:srgbClr val="FFD600">
                <a:alpha val="35000"/>
              </a:srgbClr>
            </a:outerShdw>
          </a:effectLst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457200" cy="45720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005840" y="2377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عزل الجلسات — Session Isolation Architecture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1005840" y="2816352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49" name="Text 45"/>
          <p:cNvSpPr/>
          <p:nvPr/>
        </p:nvSpPr>
        <p:spPr>
          <a:xfrm>
            <a:off x="1152144" y="27706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جلسة بمفتاح فريد:  session:{user_id}:{session_id}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1005840" y="3044952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1" name="Text 47"/>
          <p:cNvSpPr/>
          <p:nvPr/>
        </p:nvSpPr>
        <p:spPr>
          <a:xfrm>
            <a:off x="1152144" y="29992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طلب للـ AI Agent يحمل context خاص بالجلسة — لا اختلاط مع أي مريض آخر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1005840" y="3273552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3" name="Text 49"/>
          <p:cNvSpPr/>
          <p:nvPr/>
        </p:nvSpPr>
        <p:spPr>
          <a:xfrm>
            <a:off x="1152144" y="32278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مرتبط بـ user_id — لا يمكن لمستخدم الوصول لجلسات غيره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1005840" y="3502152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5" name="Text 51"/>
          <p:cNvSpPr/>
          <p:nvPr/>
        </p:nvSpPr>
        <p:spPr>
          <a:xfrm>
            <a:off x="1152144" y="34564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مستقل: 100 رسالة/دقيقة لكل مستخدم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274320" y="3858768"/>
            <a:ext cx="8595360" cy="914400"/>
          </a:xfrm>
          <a:prstGeom prst="roundedRect">
            <a:avLst>
              <a:gd name="adj" fmla="val 12000"/>
            </a:avLst>
          </a:prstGeom>
          <a:solidFill>
            <a:srgbClr val="0D2B5C"/>
          </a:solidFill>
          <a:ln/>
        </p:spPr>
      </p:sp>
      <p:sp>
        <p:nvSpPr>
          <p:cNvPr id="57" name="Text 53"/>
          <p:cNvSpPr/>
          <p:nvPr/>
        </p:nvSpPr>
        <p:spPr>
          <a:xfrm>
            <a:off x="45720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مصادر البيانات الطبية المعتمدة: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457200" y="4206240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9" name="Text 55"/>
          <p:cNvSpPr/>
          <p:nvPr/>
        </p:nvSpPr>
        <p:spPr>
          <a:xfrm>
            <a:off x="594360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(768 حالة)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2606040" y="4206240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1" name="Text 57"/>
          <p:cNvSpPr/>
          <p:nvPr/>
        </p:nvSpPr>
        <p:spPr>
          <a:xfrm>
            <a:off x="2743200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Kaggle (3,662 صورة)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4754880" y="4206240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3" name="Text 59"/>
          <p:cNvSpPr/>
          <p:nvPr/>
        </p:nvSpPr>
        <p:spPr>
          <a:xfrm>
            <a:off x="4892040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Health Indicators (253,680 حالة)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6903720" y="4206240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5" name="Text 61"/>
          <p:cNvSpPr/>
          <p:nvPr/>
        </p:nvSpPr>
        <p:spPr>
          <a:xfrm>
            <a:off x="7040880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IDF Atlas 2023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التقنيات المستخدمة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943600" y="2103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 Stack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1627632" cy="3566160"/>
          </a:xfrm>
          <a:prstGeom prst="roundedRect">
            <a:avLst>
              <a:gd name="adj" fmla="val 6742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00BCD4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68680"/>
            <a:ext cx="1627632" cy="438912"/>
          </a:xfrm>
          <a:prstGeom prst="roundedRect">
            <a:avLst>
              <a:gd name="adj" fmla="val 25000"/>
            </a:avLst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86868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417320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4173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984248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198424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2551176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255117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3118104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311810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3685032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685032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011680" y="868680"/>
            <a:ext cx="1627632" cy="3566160"/>
          </a:xfrm>
          <a:prstGeom prst="roundedRect">
            <a:avLst>
              <a:gd name="adj" fmla="val 6742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1E88E5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011680" y="868680"/>
            <a:ext cx="1627632" cy="438912"/>
          </a:xfrm>
          <a:prstGeom prst="roundedRect">
            <a:avLst>
              <a:gd name="adj" fmla="val 25000"/>
            </a:avLst>
          </a:prstGeom>
          <a:solidFill>
            <a:srgbClr val="1E88E5"/>
          </a:solidFill>
          <a:ln/>
        </p:spPr>
      </p:sp>
      <p:sp>
        <p:nvSpPr>
          <p:cNvPr id="21" name="Text 18"/>
          <p:cNvSpPr/>
          <p:nvPr/>
        </p:nvSpPr>
        <p:spPr>
          <a:xfrm>
            <a:off x="2011680" y="86868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103120" y="1417320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23" name="Text 20"/>
          <p:cNvSpPr/>
          <p:nvPr/>
        </p:nvSpPr>
        <p:spPr>
          <a:xfrm>
            <a:off x="2103120" y="14173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103120" y="1984248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25" name="Text 22"/>
          <p:cNvSpPr/>
          <p:nvPr/>
        </p:nvSpPr>
        <p:spPr>
          <a:xfrm>
            <a:off x="2103120" y="198424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103120" y="2551176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27" name="Text 24"/>
          <p:cNvSpPr/>
          <p:nvPr/>
        </p:nvSpPr>
        <p:spPr>
          <a:xfrm>
            <a:off x="2103120" y="255117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103120" y="3118104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29" name="Text 26"/>
          <p:cNvSpPr/>
          <p:nvPr/>
        </p:nvSpPr>
        <p:spPr>
          <a:xfrm>
            <a:off x="2103120" y="311810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103120" y="3685032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31" name="Text 28"/>
          <p:cNvSpPr/>
          <p:nvPr/>
        </p:nvSpPr>
        <p:spPr>
          <a:xfrm>
            <a:off x="2103120" y="3685032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749040" y="868680"/>
            <a:ext cx="1627632" cy="3566160"/>
          </a:xfrm>
          <a:prstGeom prst="roundedRect">
            <a:avLst>
              <a:gd name="adj" fmla="val 6742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FFD600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749040" y="868680"/>
            <a:ext cx="1627632" cy="438912"/>
          </a:xfrm>
          <a:prstGeom prst="roundedRect">
            <a:avLst>
              <a:gd name="adj" fmla="val 25000"/>
            </a:avLst>
          </a:prstGeom>
          <a:solidFill>
            <a:srgbClr val="FFD600"/>
          </a:solidFill>
          <a:ln/>
        </p:spPr>
      </p:sp>
      <p:sp>
        <p:nvSpPr>
          <p:cNvPr id="34" name="Text 31"/>
          <p:cNvSpPr/>
          <p:nvPr/>
        </p:nvSpPr>
        <p:spPr>
          <a:xfrm>
            <a:off x="3749040" y="86868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3840480" y="1417320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36" name="Text 33"/>
          <p:cNvSpPr/>
          <p:nvPr/>
        </p:nvSpPr>
        <p:spPr>
          <a:xfrm>
            <a:off x="3840480" y="14173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NLP Model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840480" y="1984248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38" name="Text 35"/>
          <p:cNvSpPr/>
          <p:nvPr/>
        </p:nvSpPr>
        <p:spPr>
          <a:xfrm>
            <a:off x="3840480" y="198424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Model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840480" y="2551176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40" name="Text 37"/>
          <p:cNvSpPr/>
          <p:nvPr/>
        </p:nvSpPr>
        <p:spPr>
          <a:xfrm>
            <a:off x="3840480" y="255117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840480" y="3118104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42" name="Text 39"/>
          <p:cNvSpPr/>
          <p:nvPr/>
        </p:nvSpPr>
        <p:spPr>
          <a:xfrm>
            <a:off x="3840480" y="311810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840480" y="3685032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44" name="Text 41"/>
          <p:cNvSpPr/>
          <p:nvPr/>
        </p:nvSpPr>
        <p:spPr>
          <a:xfrm>
            <a:off x="3840480" y="3685032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486400" y="868680"/>
            <a:ext cx="1627632" cy="3566160"/>
          </a:xfrm>
          <a:prstGeom prst="roundedRect">
            <a:avLst>
              <a:gd name="adj" fmla="val 6742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009688">
                <a:alpha val="3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486400" y="868680"/>
            <a:ext cx="1627632" cy="438912"/>
          </a:xfrm>
          <a:prstGeom prst="roundedRect">
            <a:avLst>
              <a:gd name="adj" fmla="val 25000"/>
            </a:avLst>
          </a:prstGeom>
          <a:solidFill>
            <a:srgbClr val="009688"/>
          </a:solidFill>
          <a:ln/>
        </p:spPr>
      </p:sp>
      <p:sp>
        <p:nvSpPr>
          <p:cNvPr id="47" name="Text 44"/>
          <p:cNvSpPr/>
          <p:nvPr/>
        </p:nvSpPr>
        <p:spPr>
          <a:xfrm>
            <a:off x="5486400" y="86868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5577840" y="1417320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49" name="Text 46"/>
          <p:cNvSpPr/>
          <p:nvPr/>
        </p:nvSpPr>
        <p:spPr>
          <a:xfrm>
            <a:off x="5577840" y="14173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577840" y="1984248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51" name="Text 48"/>
          <p:cNvSpPr/>
          <p:nvPr/>
        </p:nvSpPr>
        <p:spPr>
          <a:xfrm>
            <a:off x="5577840" y="198424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577840" y="2551176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53" name="Text 50"/>
          <p:cNvSpPr/>
          <p:nvPr/>
        </p:nvSpPr>
        <p:spPr>
          <a:xfrm>
            <a:off x="5577840" y="255117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5577840" y="3118104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55" name="Text 52"/>
          <p:cNvSpPr/>
          <p:nvPr/>
        </p:nvSpPr>
        <p:spPr>
          <a:xfrm>
            <a:off x="5577840" y="311810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bcrypt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5577840" y="3685032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57" name="Text 54"/>
          <p:cNvSpPr/>
          <p:nvPr/>
        </p:nvSpPr>
        <p:spPr>
          <a:xfrm>
            <a:off x="5577840" y="3685032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7223760" y="868680"/>
            <a:ext cx="1627632" cy="3566160"/>
          </a:xfrm>
          <a:prstGeom prst="roundedRect">
            <a:avLst>
              <a:gd name="adj" fmla="val 6742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FB8C00">
                <a:alpha val="3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7223760" y="868680"/>
            <a:ext cx="1627632" cy="438912"/>
          </a:xfrm>
          <a:prstGeom prst="roundedRect">
            <a:avLst>
              <a:gd name="adj" fmla="val 25000"/>
            </a:avLst>
          </a:prstGeom>
          <a:solidFill>
            <a:srgbClr val="FB8C00"/>
          </a:solidFill>
          <a:ln/>
        </p:spPr>
      </p:sp>
      <p:sp>
        <p:nvSpPr>
          <p:cNvPr id="60" name="Text 57"/>
          <p:cNvSpPr/>
          <p:nvPr/>
        </p:nvSpPr>
        <p:spPr>
          <a:xfrm>
            <a:off x="7223760" y="86868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7315200" y="1417320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62" name="Text 59"/>
          <p:cNvSpPr/>
          <p:nvPr/>
        </p:nvSpPr>
        <p:spPr>
          <a:xfrm>
            <a:off x="7315200" y="14173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Superset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7315200" y="1984248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64" name="Text 61"/>
          <p:cNvSpPr/>
          <p:nvPr/>
        </p:nvSpPr>
        <p:spPr>
          <a:xfrm>
            <a:off x="7315200" y="198424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7315200" y="2551176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66" name="Text 63"/>
          <p:cNvSpPr/>
          <p:nvPr/>
        </p:nvSpPr>
        <p:spPr>
          <a:xfrm>
            <a:off x="7315200" y="255117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7315200" y="3118104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68" name="Text 65"/>
          <p:cNvSpPr/>
          <p:nvPr/>
        </p:nvSpPr>
        <p:spPr>
          <a:xfrm>
            <a:off x="7315200" y="311810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7315200" y="3685032"/>
            <a:ext cx="1444752" cy="420624"/>
          </a:xfrm>
          <a:prstGeom prst="roundedRect">
            <a:avLst>
              <a:gd name="adj" fmla="val 17391"/>
            </a:avLst>
          </a:prstGeom>
          <a:solidFill>
            <a:srgbClr val="132952"/>
          </a:solidFill>
          <a:ln/>
        </p:spPr>
      </p:sp>
      <p:sp>
        <p:nvSpPr>
          <p:cNvPr id="70" name="Text 67"/>
          <p:cNvSpPr/>
          <p:nvPr/>
        </p:nvSpPr>
        <p:spPr>
          <a:xfrm>
            <a:off x="7315200" y="3685032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274320" y="4572000"/>
            <a:ext cx="8595360" cy="457200"/>
          </a:xfrm>
          <a:prstGeom prst="roundedRect">
            <a:avLst>
              <a:gd name="adj" fmla="val 20000"/>
            </a:avLst>
          </a:prstGeom>
          <a:solidFill>
            <a:srgbClr val="0D2B5C"/>
          </a:solidFill>
          <a:ln/>
        </p:spPr>
      </p:sp>
      <p:sp>
        <p:nvSpPr>
          <p:cNvPr id="72" name="Text 6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Docker + Compose   •   Supabase   •   GitHub Actions (CI/CD)   •   Nginx   •   TLS 1.3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فريق العمل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389120" y="2103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Responsibilities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8595360" cy="713232"/>
          </a:xfrm>
          <a:prstGeom prst="roundedRect">
            <a:avLst>
              <a:gd name="adj" fmla="val 1282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FFD6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024128"/>
            <a:ext cx="256032" cy="256032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859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Esmail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1152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914400"/>
            <a:ext cx="2606040" cy="475488"/>
          </a:xfrm>
          <a:prstGeom prst="roundedRect">
            <a:avLst>
              <a:gd name="adj" fmla="val 15385"/>
            </a:avLst>
          </a:prstGeom>
          <a:solidFill>
            <a:srgbClr val="0D2B5C"/>
          </a:solidFill>
          <a:ln/>
        </p:spPr>
      </p:sp>
      <p:sp>
        <p:nvSpPr>
          <p:cNvPr id="11" name="Text 8"/>
          <p:cNvSpPr/>
          <p:nvPr/>
        </p:nvSpPr>
        <p:spPr>
          <a:xfrm>
            <a:off x="3246120" y="9144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· JWT · Supabase · Docker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943600" y="914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Layer + LangChain + CNN Integration + Session Isolation + Celery Queue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1655064"/>
            <a:ext cx="8595360" cy="713232"/>
          </a:xfrm>
          <a:prstGeom prst="roundedRect">
            <a:avLst>
              <a:gd name="adj" fmla="val 1282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1E88E5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" y="1874520"/>
            <a:ext cx="256032" cy="25603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1709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Mohamed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2002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0" y="1764792"/>
            <a:ext cx="2606040" cy="475488"/>
          </a:xfrm>
          <a:prstGeom prst="roundedRect">
            <a:avLst>
              <a:gd name="adj" fmla="val 15385"/>
            </a:avLst>
          </a:prstGeom>
          <a:solidFill>
            <a:srgbClr val="0D2B5C"/>
          </a:solidFill>
          <a:ln/>
        </p:spPr>
      </p:sp>
      <p:sp>
        <p:nvSpPr>
          <p:cNvPr id="18" name="Text 15"/>
          <p:cNvSpPr/>
          <p:nvPr/>
        </p:nvSpPr>
        <p:spPr>
          <a:xfrm>
            <a:off x="3246120" y="176479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Supabase · JWT · Alembic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943600" y="1764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+ Auth System (JWT+bcrypt) + REST APIs + File Upload + API Docs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74320" y="2505456"/>
            <a:ext cx="8595360" cy="713232"/>
          </a:xfrm>
          <a:prstGeom prst="roundedRect">
            <a:avLst>
              <a:gd name="adj" fmla="val 1282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00BCD4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2724912"/>
            <a:ext cx="256032" cy="25603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2560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Kareem Mohamed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2852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0" y="2615184"/>
            <a:ext cx="2606040" cy="475488"/>
          </a:xfrm>
          <a:prstGeom prst="roundedRect">
            <a:avLst>
              <a:gd name="adj" fmla="val 15385"/>
            </a:avLst>
          </a:prstGeom>
          <a:solidFill>
            <a:srgbClr val="0D2B5C"/>
          </a:solidFill>
          <a:ln/>
        </p:spPr>
      </p:sp>
      <p:sp>
        <p:nvSpPr>
          <p:cNvPr id="25" name="Text 22"/>
          <p:cNvSpPr/>
          <p:nvPr/>
        </p:nvSpPr>
        <p:spPr>
          <a:xfrm>
            <a:off x="3246120" y="261518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Tailwind · Socket.io · Framer Motion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943600" y="26151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+ Image Upload (Drag &amp; Drop) + Streaming + Responsive Design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74320" y="3355848"/>
            <a:ext cx="8595360" cy="713232"/>
          </a:xfrm>
          <a:prstGeom prst="roundedRect">
            <a:avLst>
              <a:gd name="adj" fmla="val 1282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009688">
                <a:alpha val="2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11480" y="3575304"/>
            <a:ext cx="256032" cy="256032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34107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Eslam Mohamed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0" y="3465576"/>
            <a:ext cx="2606040" cy="475488"/>
          </a:xfrm>
          <a:prstGeom prst="roundedRect">
            <a:avLst>
              <a:gd name="adj" fmla="val 15385"/>
            </a:avLst>
          </a:prstGeom>
          <a:solidFill>
            <a:srgbClr val="0D2B5C"/>
          </a:solidFill>
          <a:ln/>
        </p:spPr>
      </p:sp>
      <p:sp>
        <p:nvSpPr>
          <p:cNvPr id="32" name="Text 29"/>
          <p:cNvSpPr/>
          <p:nvPr/>
        </p:nvSpPr>
        <p:spPr>
          <a:xfrm>
            <a:off x="3246120" y="346557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Tailwind · React Router · React Query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943600" y="34655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Session History + Recommendations + Notification System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74320" y="4206240"/>
            <a:ext cx="8595360" cy="713232"/>
          </a:xfrm>
          <a:prstGeom prst="roundedRect">
            <a:avLst>
              <a:gd name="adj" fmla="val 1282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50800" dir="2700000">
              <a:srgbClr val="FB8C00">
                <a:alpha val="2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11480" y="4425696"/>
            <a:ext cx="256032" cy="256032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36" name="Text 33"/>
          <p:cNvSpPr/>
          <p:nvPr/>
        </p:nvSpPr>
        <p:spPr>
          <a:xfrm>
            <a:off x="777240" y="4261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Rahman Mohamed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77240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00400" y="4315968"/>
            <a:ext cx="2606040" cy="475488"/>
          </a:xfrm>
          <a:prstGeom prst="roundedRect">
            <a:avLst>
              <a:gd name="adj" fmla="val 15385"/>
            </a:avLst>
          </a:prstGeom>
          <a:solidFill>
            <a:srgbClr val="0D2B5C"/>
          </a:solidFill>
          <a:ln/>
        </p:spPr>
      </p:sp>
      <p:sp>
        <p:nvSpPr>
          <p:cNvPr id="39" name="Text 36"/>
          <p:cNvSpPr/>
          <p:nvPr/>
        </p:nvSpPr>
        <p:spPr>
          <a:xfrm>
            <a:off x="3246120" y="431596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Apache Superset · Matplotlib · SQL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943600" y="43159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Data + Superset Dashboard (8+ charts) + AI Accuracy Review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C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خطة العمل — Agile Roadmap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858000" y="2103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Sprints • 10 Weeks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8595360" cy="594360"/>
          </a:xfrm>
          <a:prstGeom prst="roundedRect">
            <a:avLst>
              <a:gd name="adj" fmla="val 15385"/>
            </a:avLst>
          </a:prstGeom>
          <a:solidFill>
            <a:srgbClr val="0F2040"/>
          </a:solidFill>
          <a:ln/>
          <a:effectLst>
            <a:outerShdw sx="100000" sy="100000" kx="0" ky="0" algn="bl" rotWithShape="0" blurRad="88900" dist="50800" dir="2700000">
              <a:srgbClr val="90A4AE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96112"/>
            <a:ext cx="658368" cy="457200"/>
          </a:xfrm>
          <a:prstGeom prst="roundedRect">
            <a:avLst>
              <a:gd name="adj" fmla="val 16000"/>
            </a:avLst>
          </a:prstGeom>
          <a:solidFill>
            <a:srgbClr val="90A4A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89611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الإعداد والتخطيط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1170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43200" y="914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 • Docker • CI/CD • ERD • API Contracts • بيانات المرضى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1527048"/>
            <a:ext cx="8595360" cy="594360"/>
          </a:xfrm>
          <a:prstGeom prst="roundedRect">
            <a:avLst>
              <a:gd name="adj" fmla="val 15385"/>
            </a:avLst>
          </a:prstGeom>
          <a:solidFill>
            <a:srgbClr val="0F2040"/>
          </a:solidFill>
          <a:ln/>
          <a:effectLst>
            <a:outerShdw sx="100000" sy="100000" kx="0" ky="0" algn="bl" rotWithShape="0" blurRad="88900" dist="50800" dir="2700000">
              <a:srgbClr val="00BCD4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1600200"/>
            <a:ext cx="658368" cy="457200"/>
          </a:xfrm>
          <a:prstGeom prst="roundedRect">
            <a:avLst>
              <a:gd name="adj" fmla="val 16000"/>
            </a:avLst>
          </a:prstGeom>
          <a:solidFill>
            <a:srgbClr val="00BCD4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" y="16002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1581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Database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743200" y="16184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 • JWT • DB Models • Docker Compose • Unit Tests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2231136"/>
            <a:ext cx="8595360" cy="594360"/>
          </a:xfrm>
          <a:prstGeom prst="roundedRect">
            <a:avLst>
              <a:gd name="adj" fmla="val 15385"/>
            </a:avLst>
          </a:prstGeom>
          <a:solidFill>
            <a:srgbClr val="0F2040"/>
          </a:solidFill>
          <a:ln/>
          <a:effectLst>
            <a:outerShdw sx="100000" sy="100000" kx="0" ky="0" algn="bl" rotWithShape="0" blurRad="88900" dist="50800" dir="2700000">
              <a:srgbClr val="FFD6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" y="2304288"/>
            <a:ext cx="658368" cy="457200"/>
          </a:xfrm>
          <a:prstGeom prst="roundedRect">
            <a:avLst>
              <a:gd name="adj" fmla="val 16000"/>
            </a:avLst>
          </a:prstGeom>
          <a:solidFill>
            <a:srgbClr val="FFD600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" y="230428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الأساسي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97280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4–5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743200" y="232257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• System Prompt • Chat + Streaming • Session Management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4320" y="2935224"/>
            <a:ext cx="8595360" cy="594360"/>
          </a:xfrm>
          <a:prstGeom prst="roundedRect">
            <a:avLst>
              <a:gd name="adj" fmla="val 15385"/>
            </a:avLst>
          </a:prstGeom>
          <a:solidFill>
            <a:srgbClr val="0F2040"/>
          </a:solidFill>
          <a:ln/>
          <a:effectLst>
            <a:outerShdw sx="100000" sy="100000" kx="0" ky="0" algn="bl" rotWithShape="0" blurRad="88900" dist="50800" dir="2700000">
              <a:srgbClr val="FB8C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20040" y="3008376"/>
            <a:ext cx="658368" cy="457200"/>
          </a:xfrm>
          <a:prstGeom prst="roundedRect">
            <a:avLst>
              <a:gd name="adj" fmla="val 16000"/>
            </a:avLst>
          </a:prstGeom>
          <a:solidFill>
            <a:srgbClr val="FB8C00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300837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97280" y="2990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— الصور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97280" y="32826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6–7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743200" y="302666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• Image Dropzone • Supabase Storage • Superset Dashboard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3639312"/>
            <a:ext cx="8595360" cy="594360"/>
          </a:xfrm>
          <a:prstGeom prst="roundedRect">
            <a:avLst>
              <a:gd name="adj" fmla="val 15385"/>
            </a:avLst>
          </a:prstGeom>
          <a:solidFill>
            <a:srgbClr val="0F2040"/>
          </a:solidFill>
          <a:ln/>
          <a:effectLst>
            <a:outerShdw sx="100000" sy="100000" kx="0" ky="0" algn="bl" rotWithShape="0" blurRad="88900" dist="50800" dir="2700000">
              <a:srgbClr val="009688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0040" y="3712464"/>
            <a:ext cx="658368" cy="457200"/>
          </a:xfrm>
          <a:prstGeom prst="roundedRect">
            <a:avLst>
              <a:gd name="adj" fmla="val 16000"/>
            </a:avLst>
          </a:prstGeom>
          <a:solidFill>
            <a:srgbClr val="009688"/>
          </a:solidFill>
          <a:ln/>
        </p:spPr>
      </p:sp>
      <p:sp>
        <p:nvSpPr>
          <p:cNvPr id="32" name="Text 29"/>
          <p:cNvSpPr/>
          <p:nvPr/>
        </p:nvSpPr>
        <p:spPr>
          <a:xfrm>
            <a:off x="320040" y="371246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097280" y="3694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Polish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97280" y="3986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8–9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2743200" y="37307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Superset Charts • Session History • UX Polish • Security Audit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4320" y="4343400"/>
            <a:ext cx="8595360" cy="594360"/>
          </a:xfrm>
          <a:prstGeom prst="roundedRect">
            <a:avLst>
              <a:gd name="adj" fmla="val 15385"/>
            </a:avLst>
          </a:prstGeom>
          <a:solidFill>
            <a:srgbClr val="0F2040"/>
          </a:solidFill>
          <a:ln/>
          <a:effectLst>
            <a:outerShdw sx="100000" sy="100000" kx="0" ky="0" algn="bl" rotWithShape="0" blurRad="88900" dist="50800" dir="2700000">
              <a:srgbClr val="43A047">
                <a:alpha val="3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20040" y="4416552"/>
            <a:ext cx="658368" cy="457200"/>
          </a:xfrm>
          <a:prstGeom prst="roundedRect">
            <a:avLst>
              <a:gd name="adj" fmla="val 16000"/>
            </a:avLst>
          </a:prstGeom>
          <a:solidFill>
            <a:srgbClr val="43A047"/>
          </a:solidFill>
          <a:ln/>
        </p:spPr>
      </p:sp>
      <p:sp>
        <p:nvSpPr>
          <p:cNvPr id="38" name="Text 35"/>
          <p:cNvSpPr/>
          <p:nvPr/>
        </p:nvSpPr>
        <p:spPr>
          <a:xfrm>
            <a:off x="320040" y="441655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097280" y="4398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Launch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097280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2743200" y="4434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• UAT • Bug Fixes • Production Deploy • Final Demo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الأمان ومؤشرات النجاح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858000" y="2103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KPIs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طبقات الأمان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1480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8" name="Shape 5"/>
          <p:cNvSpPr/>
          <p:nvPr/>
        </p:nvSpPr>
        <p:spPr>
          <a:xfrm>
            <a:off x="384048" y="1289304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207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المصادقة: 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00200" y="1207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 (15 دقيقة)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1609344"/>
            <a:ext cx="411480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" y="1728216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كلمات المرور: 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00200" y="1645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Salt — لا تُخزَّن نصاً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2048256"/>
            <a:ext cx="411480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16" name="Shape 13"/>
          <p:cNvSpPr/>
          <p:nvPr/>
        </p:nvSpPr>
        <p:spPr>
          <a:xfrm>
            <a:off x="384048" y="2167128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عزل الجلسات: 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600200" y="20848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UUID منفصل لكل مستخدم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2487168"/>
            <a:ext cx="411480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20" name="Shape 17"/>
          <p:cNvSpPr/>
          <p:nvPr/>
        </p:nvSpPr>
        <p:spPr>
          <a:xfrm>
            <a:off x="384048" y="2606040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2523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النقل: 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600200" y="25237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/ HTTPS — تشفير كامل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2926080"/>
            <a:ext cx="411480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24" name="Shape 21"/>
          <p:cNvSpPr/>
          <p:nvPr/>
        </p:nvSpPr>
        <p:spPr>
          <a:xfrm>
            <a:off x="384048" y="3044952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29626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المدخلات: 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600200" y="29626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Validation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74320" y="3364992"/>
            <a:ext cx="411480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28" name="Shape 25"/>
          <p:cNvSpPr/>
          <p:nvPr/>
        </p:nvSpPr>
        <p:spPr>
          <a:xfrm>
            <a:off x="384048" y="3483864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3401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الصور: 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600200" y="3401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 + MIME Type Check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4320" y="3803904"/>
            <a:ext cx="411480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32" name="Shape 29"/>
          <p:cNvSpPr/>
          <p:nvPr/>
        </p:nvSpPr>
        <p:spPr>
          <a:xfrm>
            <a:off x="384048" y="3922776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3" name="Text 30"/>
          <p:cNvSpPr/>
          <p:nvPr/>
        </p:nvSpPr>
        <p:spPr>
          <a:xfrm>
            <a:off x="54864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600200" y="3840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طلب/دقيقة لكل مستخدم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74320" y="4242816"/>
            <a:ext cx="411480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36" name="Shape 33"/>
          <p:cNvSpPr/>
          <p:nvPr/>
        </p:nvSpPr>
        <p:spPr>
          <a:xfrm>
            <a:off x="384048" y="4361688"/>
            <a:ext cx="109728" cy="10972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7" name="Text 34"/>
          <p:cNvSpPr/>
          <p:nvPr/>
        </p:nvSpPr>
        <p:spPr>
          <a:xfrm>
            <a:off x="548640" y="4279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الصلاحيات: 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600200" y="42793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كل مستخدم لبياناته فقط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6634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مؤشرات النجاح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663440" y="1170432"/>
            <a:ext cx="420624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41" name="Text 38"/>
          <p:cNvSpPr/>
          <p:nvPr/>
        </p:nvSpPr>
        <p:spPr>
          <a:xfrm>
            <a:off x="4754880" y="1207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دقة التشخيص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858000" y="1261872"/>
            <a:ext cx="1280160" cy="146304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58000" y="1261872"/>
            <a:ext cx="1088136" cy="14630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44" name="Text 41"/>
          <p:cNvSpPr/>
          <p:nvPr/>
        </p:nvSpPr>
        <p:spPr>
          <a:xfrm>
            <a:off x="8229600" y="12070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663440" y="1609344"/>
            <a:ext cx="420624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46" name="Text 43"/>
          <p:cNvSpPr/>
          <p:nvPr/>
        </p:nvSpPr>
        <p:spPr>
          <a:xfrm>
            <a:off x="475488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زمن تحليل النص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858000" y="1700784"/>
            <a:ext cx="1280160" cy="146304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58000" y="1700784"/>
            <a:ext cx="1152144" cy="14630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9" name="Text 46"/>
          <p:cNvSpPr/>
          <p:nvPr/>
        </p:nvSpPr>
        <p:spPr>
          <a:xfrm>
            <a:off x="8229600" y="1645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ثوانٍ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663440" y="2048256"/>
            <a:ext cx="420624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51" name="Text 48"/>
          <p:cNvSpPr/>
          <p:nvPr/>
        </p:nvSpPr>
        <p:spPr>
          <a:xfrm>
            <a:off x="475488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زمن تحليل الصورة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858000" y="2139696"/>
            <a:ext cx="1280160" cy="146304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858000" y="2139696"/>
            <a:ext cx="960120" cy="14630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4" name="Text 51"/>
          <p:cNvSpPr/>
          <p:nvPr/>
        </p:nvSpPr>
        <p:spPr>
          <a:xfrm>
            <a:off x="8229600" y="20848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 ثانية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663440" y="2487168"/>
            <a:ext cx="420624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56" name="Text 53"/>
          <p:cNvSpPr/>
          <p:nvPr/>
        </p:nvSpPr>
        <p:spPr>
          <a:xfrm>
            <a:off x="4754880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النظام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858000" y="2578608"/>
            <a:ext cx="1280160" cy="146304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858000" y="2578608"/>
            <a:ext cx="1267358" cy="14630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59" name="Text 56"/>
          <p:cNvSpPr/>
          <p:nvPr/>
        </p:nvSpPr>
        <p:spPr>
          <a:xfrm>
            <a:off x="8229600" y="25237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4663440" y="2926080"/>
            <a:ext cx="420624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61" name="Text 58"/>
          <p:cNvSpPr/>
          <p:nvPr/>
        </p:nvSpPr>
        <p:spPr>
          <a:xfrm>
            <a:off x="4754880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Isolation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6858000" y="3017520"/>
            <a:ext cx="1280160" cy="146304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858000" y="3017520"/>
            <a:ext cx="1280160" cy="14630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64" name="Text 61"/>
          <p:cNvSpPr/>
          <p:nvPr/>
        </p:nvSpPr>
        <p:spPr>
          <a:xfrm>
            <a:off x="8229600" y="29626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صفر تسريب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4663440" y="3364992"/>
            <a:ext cx="420624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66" name="Text 63"/>
          <p:cNvSpPr/>
          <p:nvPr/>
        </p:nvSpPr>
        <p:spPr>
          <a:xfrm>
            <a:off x="475488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رضا المستخدمين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6858000" y="3456432"/>
            <a:ext cx="1280160" cy="146304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858000" y="3456432"/>
            <a:ext cx="1075334" cy="14630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69" name="Text 66"/>
          <p:cNvSpPr/>
          <p:nvPr/>
        </p:nvSpPr>
        <p:spPr>
          <a:xfrm>
            <a:off x="8229600" y="34015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4663440" y="3803904"/>
            <a:ext cx="420624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71" name="Text 68"/>
          <p:cNvSpPr/>
          <p:nvPr/>
        </p:nvSpPr>
        <p:spPr>
          <a:xfrm>
            <a:off x="475488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مخططات Superset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6858000" y="3895344"/>
            <a:ext cx="1280160" cy="146304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858000" y="3895344"/>
            <a:ext cx="1280160" cy="146304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74" name="Text 71"/>
          <p:cNvSpPr/>
          <p:nvPr/>
        </p:nvSpPr>
        <p:spPr>
          <a:xfrm>
            <a:off x="8229600" y="38404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مخططات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4663440" y="4242816"/>
            <a:ext cx="4206240" cy="347472"/>
          </a:xfrm>
          <a:prstGeom prst="roundedRect">
            <a:avLst>
              <a:gd name="adj" fmla="val 18421"/>
            </a:avLst>
          </a:prstGeom>
          <a:solidFill>
            <a:srgbClr val="0F2040"/>
          </a:solidFill>
          <a:ln/>
        </p:spPr>
      </p:sp>
      <p:sp>
        <p:nvSpPr>
          <p:cNvPr id="76" name="Text 73"/>
          <p:cNvSpPr/>
          <p:nvPr/>
        </p:nvSpPr>
        <p:spPr>
          <a:xfrm>
            <a:off x="4754880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تغطية الاختبارات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6858000" y="4334256"/>
            <a:ext cx="1280160" cy="146304"/>
          </a:xfrm>
          <a:prstGeom prst="rect">
            <a:avLst/>
          </a:prstGeom>
          <a:solidFill>
            <a:srgbClr val="1A3A6A"/>
          </a:solidFill>
          <a:ln w="12700">
            <a:solidFill>
              <a:srgbClr val="1E4A80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858000" y="4334256"/>
            <a:ext cx="896112" cy="14630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9" name="Text 76"/>
          <p:cNvSpPr/>
          <p:nvPr/>
        </p:nvSpPr>
        <p:spPr>
          <a:xfrm>
            <a:off x="8229600" y="42793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Coverage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رحلة المستخدم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303520" y="210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— 10 Steps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00BCD4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960120"/>
            <a:ext cx="594360" cy="5943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162763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التسجيل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92808" y="1225296"/>
            <a:ext cx="100584" cy="64008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011680" y="82296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1E88E5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960120"/>
            <a:ext cx="594360" cy="59436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3" name="Text 10"/>
          <p:cNvSpPr/>
          <p:nvPr/>
        </p:nvSpPr>
        <p:spPr>
          <a:xfrm>
            <a:off x="251460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057400" y="162763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الدخول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30168" y="1225296"/>
            <a:ext cx="100584" cy="64008"/>
          </a:xfrm>
          <a:prstGeom prst="rect">
            <a:avLst/>
          </a:prstGeom>
          <a:solidFill>
            <a:srgbClr val="1E88E5">
              <a:alpha val="5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749040" y="82296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FFD6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51960" y="960120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8" name="Text 15"/>
          <p:cNvSpPr/>
          <p:nvPr/>
        </p:nvSpPr>
        <p:spPr>
          <a:xfrm>
            <a:off x="425196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794760" y="162763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الصفحة الرئيسية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67528" y="1225296"/>
            <a:ext cx="100584" cy="64008"/>
          </a:xfrm>
          <a:prstGeom prst="rect">
            <a:avLst/>
          </a:prstGeom>
          <a:solidFill>
            <a:srgbClr val="FFD600">
              <a:alpha val="5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0" y="82296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009688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89320" y="960120"/>
            <a:ext cx="594360" cy="59436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23" name="Text 20"/>
          <p:cNvSpPr/>
          <p:nvPr/>
        </p:nvSpPr>
        <p:spPr>
          <a:xfrm>
            <a:off x="598932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532120" y="162763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محادثة جديدة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104888" y="1225296"/>
            <a:ext cx="100584" cy="64008"/>
          </a:xfrm>
          <a:prstGeom prst="rect">
            <a:avLst/>
          </a:prstGeom>
          <a:solidFill>
            <a:srgbClr val="009688">
              <a:alpha val="5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223760" y="82296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FB8C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26680" y="960120"/>
            <a:ext cx="594360" cy="594360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28" name="Text 25"/>
          <p:cNvSpPr/>
          <p:nvPr/>
        </p:nvSpPr>
        <p:spPr>
          <a:xfrm>
            <a:off x="772668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269480" y="162763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إرسال الصورة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301752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E53935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77240" y="3154680"/>
            <a:ext cx="594360" cy="5943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320040" y="382219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إرسال نص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892808" y="3419856"/>
            <a:ext cx="100584" cy="64008"/>
          </a:xfrm>
          <a:prstGeom prst="rect">
            <a:avLst/>
          </a:prstGeom>
          <a:solidFill>
            <a:srgbClr val="E53935">
              <a:alpha val="5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2011680" y="301752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FFD6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514600" y="3154680"/>
            <a:ext cx="594360" cy="59436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37" name="Text 34"/>
          <p:cNvSpPr/>
          <p:nvPr/>
        </p:nvSpPr>
        <p:spPr>
          <a:xfrm>
            <a:off x="251460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2057400" y="382219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نتيجة التشخيص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30168" y="3419856"/>
            <a:ext cx="100584" cy="64008"/>
          </a:xfrm>
          <a:prstGeom prst="rect">
            <a:avLst/>
          </a:prstGeom>
          <a:solidFill>
            <a:srgbClr val="FFD600">
              <a:alpha val="5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749040" y="301752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009688">
                <a:alpha val="3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251960" y="3154680"/>
            <a:ext cx="594360" cy="59436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42" name="Text 39"/>
          <p:cNvSpPr/>
          <p:nvPr/>
        </p:nvSpPr>
        <p:spPr>
          <a:xfrm>
            <a:off x="425196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3794760" y="382219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التوصيات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367528" y="3419856"/>
            <a:ext cx="100584" cy="64008"/>
          </a:xfrm>
          <a:prstGeom prst="rect">
            <a:avLst/>
          </a:prstGeom>
          <a:solidFill>
            <a:srgbClr val="009688">
              <a:alpha val="5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486400" y="301752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00BCD4">
                <a:alpha val="3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9320" y="3154680"/>
            <a:ext cx="594360" cy="5943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7" name="Text 44"/>
          <p:cNvSpPr/>
          <p:nvPr/>
        </p:nvSpPr>
        <p:spPr>
          <a:xfrm>
            <a:off x="59893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5532120" y="382219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المحادثة الحرة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7104888" y="3419856"/>
            <a:ext cx="100584" cy="64008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23760" y="3017520"/>
            <a:ext cx="1600200" cy="1737360"/>
          </a:xfrm>
          <a:prstGeom prst="roundedRect">
            <a:avLst>
              <a:gd name="adj" fmla="val 6857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1E88E5">
                <a:alpha val="3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7726680" y="3154680"/>
            <a:ext cx="594360" cy="59436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2" name="Text 49"/>
          <p:cNvSpPr/>
          <p:nvPr/>
        </p:nvSpPr>
        <p:spPr>
          <a:xfrm>
            <a:off x="77266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7269480" y="382219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الجلسات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الميزات المتقدمة والابتكارات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583680" y="2103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2788920" cy="4023360"/>
          </a:xfrm>
          <a:prstGeom prst="roundedRect">
            <a:avLst>
              <a:gd name="adj" fmla="val 459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77800" dist="50800" dir="2700000">
              <a:srgbClr val="FFD6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2788920" cy="502920"/>
          </a:xfrm>
          <a:prstGeom prst="roundedRect">
            <a:avLst>
              <a:gd name="adj" fmla="val 25455"/>
            </a:avLst>
          </a:prstGeom>
          <a:solidFill>
            <a:srgbClr val="FFD6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5953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8595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المتقدم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1480" y="141732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11" name="Shape 7"/>
          <p:cNvSpPr/>
          <p:nvPr/>
        </p:nvSpPr>
        <p:spPr>
          <a:xfrm>
            <a:off x="502920" y="1600200"/>
            <a:ext cx="128016" cy="128016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2" name="Text 8"/>
          <p:cNvSpPr/>
          <p:nvPr/>
        </p:nvSpPr>
        <p:spPr>
          <a:xfrm>
            <a:off x="704088" y="14721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ذاكرة عبر الجلسات (Cross-Session Memory)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11480" y="205740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14" name="Shape 10"/>
          <p:cNvSpPr/>
          <p:nvPr/>
        </p:nvSpPr>
        <p:spPr>
          <a:xfrm>
            <a:off x="502920" y="2240280"/>
            <a:ext cx="128016" cy="128016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5" name="Text 11"/>
          <p:cNvSpPr/>
          <p:nvPr/>
        </p:nvSpPr>
        <p:spPr>
          <a:xfrm>
            <a:off x="704088" y="21122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وضع الطوارئ عند سكر &gt; 400 mg/dL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1480" y="269748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17" name="Shape 13"/>
          <p:cNvSpPr/>
          <p:nvPr/>
        </p:nvSpPr>
        <p:spPr>
          <a:xfrm>
            <a:off x="502920" y="2880360"/>
            <a:ext cx="128016" cy="128016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8" name="Text 14"/>
          <p:cNvSpPr/>
          <p:nvPr/>
        </p:nvSpPr>
        <p:spPr>
          <a:xfrm>
            <a:off x="704088" y="27523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مع كل تشخيص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11480" y="333756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20" name="Shape 16"/>
          <p:cNvSpPr/>
          <p:nvPr/>
        </p:nvSpPr>
        <p:spPr>
          <a:xfrm>
            <a:off x="502920" y="3520440"/>
            <a:ext cx="128016" cy="128016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" y="3392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Multi-Modal: صورة + نص معاً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11480" y="397764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23" name="Shape 19"/>
          <p:cNvSpPr/>
          <p:nvPr/>
        </p:nvSpPr>
        <p:spPr>
          <a:xfrm>
            <a:off x="502920" y="4160520"/>
            <a:ext cx="128016" cy="128016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4" name="Text 20"/>
          <p:cNvSpPr/>
          <p:nvPr/>
        </p:nvSpPr>
        <p:spPr>
          <a:xfrm>
            <a:off x="704088" y="40325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للعربية الطبية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200400" y="804672"/>
            <a:ext cx="2788920" cy="4023360"/>
          </a:xfrm>
          <a:prstGeom prst="roundedRect">
            <a:avLst>
              <a:gd name="adj" fmla="val 459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77800" dist="50800" dir="2700000">
              <a:srgbClr val="00BCD4">
                <a:alpha val="3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200400" y="804672"/>
            <a:ext cx="2788920" cy="502920"/>
          </a:xfrm>
          <a:prstGeom prst="roundedRect">
            <a:avLst>
              <a:gd name="adj" fmla="val 25455"/>
            </a:avLst>
          </a:prstGeom>
          <a:solidFill>
            <a:srgbClr val="00BCD4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859536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49040" y="8595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المتقدم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337560" y="141732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30" name="Shape 25"/>
          <p:cNvSpPr/>
          <p:nvPr/>
        </p:nvSpPr>
        <p:spPr>
          <a:xfrm>
            <a:off x="3429000" y="160020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1" name="Text 26"/>
          <p:cNvSpPr/>
          <p:nvPr/>
        </p:nvSpPr>
        <p:spPr>
          <a:xfrm>
            <a:off x="3630168" y="14721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Mode + Accessibility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337560" y="205740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33" name="Shape 28"/>
          <p:cNvSpPr/>
          <p:nvPr/>
        </p:nvSpPr>
        <p:spPr>
          <a:xfrm>
            <a:off x="3429000" y="224028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4" name="Text 29"/>
          <p:cNvSpPr/>
          <p:nvPr/>
        </p:nvSpPr>
        <p:spPr>
          <a:xfrm>
            <a:off x="3630168" y="21122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 لقراءات السكر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3337560" y="269748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36" name="Shape 31"/>
          <p:cNvSpPr/>
          <p:nvPr/>
        </p:nvSpPr>
        <p:spPr>
          <a:xfrm>
            <a:off x="3429000" y="288036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7" name="Text 32"/>
          <p:cNvSpPr/>
          <p:nvPr/>
        </p:nvSpPr>
        <p:spPr>
          <a:xfrm>
            <a:off x="3630168" y="27523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تصدير تقرير PDF لكل جلسة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3337560" y="333756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39" name="Shape 34"/>
          <p:cNvSpPr/>
          <p:nvPr/>
        </p:nvSpPr>
        <p:spPr>
          <a:xfrm>
            <a:off x="3429000" y="352044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0" name="Text 35"/>
          <p:cNvSpPr/>
          <p:nvPr/>
        </p:nvSpPr>
        <p:spPr>
          <a:xfrm>
            <a:off x="3630168" y="3392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مشاركة آمنة مع الطبيب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3337560" y="397764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42" name="Shape 37"/>
          <p:cNvSpPr/>
          <p:nvPr/>
        </p:nvSpPr>
        <p:spPr>
          <a:xfrm>
            <a:off x="3429000" y="4160520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3" name="Text 38"/>
          <p:cNvSpPr/>
          <p:nvPr/>
        </p:nvSpPr>
        <p:spPr>
          <a:xfrm>
            <a:off x="3630168" y="40325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يعمل بدون إنترنت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126480" y="804672"/>
            <a:ext cx="2788920" cy="4023360"/>
          </a:xfrm>
          <a:prstGeom prst="roundedRect">
            <a:avLst>
              <a:gd name="adj" fmla="val 459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77800" dist="50800" dir="2700000">
              <a:srgbClr val="FB8C00">
                <a:alpha val="30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6126480" y="804672"/>
            <a:ext cx="2788920" cy="502920"/>
          </a:xfrm>
          <a:prstGeom prst="roundedRect">
            <a:avLst>
              <a:gd name="adj" fmla="val 25455"/>
            </a:avLst>
          </a:prstGeom>
          <a:solidFill>
            <a:srgbClr val="FB8C00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859536"/>
            <a:ext cx="365760" cy="36576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675120" y="8595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المتقدمة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6263640" y="141732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49" name="Shape 43"/>
          <p:cNvSpPr/>
          <p:nvPr/>
        </p:nvSpPr>
        <p:spPr>
          <a:xfrm>
            <a:off x="6355080" y="1600200"/>
            <a:ext cx="128016" cy="128016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50" name="Text 44"/>
          <p:cNvSpPr/>
          <p:nvPr/>
        </p:nvSpPr>
        <p:spPr>
          <a:xfrm>
            <a:off x="6556248" y="14721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لتطور الحالة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6263640" y="205740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52" name="Shape 46"/>
          <p:cNvSpPr/>
          <p:nvPr/>
        </p:nvSpPr>
        <p:spPr>
          <a:xfrm>
            <a:off x="6355080" y="2240280"/>
            <a:ext cx="128016" cy="128016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53" name="Text 47"/>
          <p:cNvSpPr/>
          <p:nvPr/>
        </p:nvSpPr>
        <p:spPr>
          <a:xfrm>
            <a:off x="6556248" y="21122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Heatmap جغرافي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6263640" y="269748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55" name="Shape 49"/>
          <p:cNvSpPr/>
          <p:nvPr/>
        </p:nvSpPr>
        <p:spPr>
          <a:xfrm>
            <a:off x="6355080" y="2880360"/>
            <a:ext cx="128016" cy="128016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56" name="Text 50"/>
          <p:cNvSpPr/>
          <p:nvPr/>
        </p:nvSpPr>
        <p:spPr>
          <a:xfrm>
            <a:off x="6556248" y="27523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 للمجموعات</a:t>
            </a:r>
            <a:endParaRPr lang="en-US" sz="950" dirty="0"/>
          </a:p>
        </p:txBody>
      </p:sp>
      <p:sp>
        <p:nvSpPr>
          <p:cNvPr id="57" name="Shape 51"/>
          <p:cNvSpPr/>
          <p:nvPr/>
        </p:nvSpPr>
        <p:spPr>
          <a:xfrm>
            <a:off x="6263640" y="333756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58" name="Shape 52"/>
          <p:cNvSpPr/>
          <p:nvPr/>
        </p:nvSpPr>
        <p:spPr>
          <a:xfrm>
            <a:off x="6355080" y="3520440"/>
            <a:ext cx="128016" cy="128016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59" name="Text 53"/>
          <p:cNvSpPr/>
          <p:nvPr/>
        </p:nvSpPr>
        <p:spPr>
          <a:xfrm>
            <a:off x="6556248" y="3392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Dashboard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6263640" y="3977640"/>
            <a:ext cx="2514600" cy="502920"/>
          </a:xfrm>
          <a:prstGeom prst="roundedRect">
            <a:avLst>
              <a:gd name="adj" fmla="val 14545"/>
            </a:avLst>
          </a:prstGeom>
          <a:solidFill>
            <a:srgbClr val="132952"/>
          </a:solidFill>
          <a:ln/>
        </p:spPr>
      </p:sp>
      <p:sp>
        <p:nvSpPr>
          <p:cNvPr id="61" name="Shape 55"/>
          <p:cNvSpPr/>
          <p:nvPr/>
        </p:nvSpPr>
        <p:spPr>
          <a:xfrm>
            <a:off x="6355080" y="4160520"/>
            <a:ext cx="128016" cy="128016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62" name="Text 56"/>
          <p:cNvSpPr/>
          <p:nvPr/>
        </p:nvSpPr>
        <p:spPr>
          <a:xfrm>
            <a:off x="6556248" y="40325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تحديث أسبوعي تلقائي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C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لوحة تحليل البيانات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0" y="2103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Superset Analytics Dashboard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2011680" cy="1810512"/>
          </a:xfrm>
          <a:prstGeom prst="roundedRect">
            <a:avLst>
              <a:gd name="adj" fmla="val 606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009688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84048" y="914400"/>
            <a:ext cx="1792224" cy="914400"/>
          </a:xfrm>
          <a:prstGeom prst="roundedRect">
            <a:avLst>
              <a:gd name="adj" fmla="val 7000"/>
            </a:avLst>
          </a:prstGeom>
          <a:solidFill>
            <a:srgbClr val="0D2B5C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987552"/>
            <a:ext cx="731520" cy="731520"/>
          </a:xfrm>
          <a:prstGeom prst="ellipse">
            <a:avLst/>
          </a:prstGeom>
          <a:solidFill>
            <a:srgbClr val="009688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60120" y="1170432"/>
            <a:ext cx="320040" cy="320040"/>
          </a:xfrm>
          <a:prstGeom prst="ellipse">
            <a:avLst/>
          </a:prstGeom>
          <a:solidFill>
            <a:srgbClr val="0D2B5C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1874520"/>
            <a:ext cx="1792224" cy="228600"/>
          </a:xfrm>
          <a:prstGeom prst="roundedRect">
            <a:avLst>
              <a:gd name="adj" fmla="val 20000"/>
            </a:avLst>
          </a:prstGeom>
          <a:solidFill>
            <a:srgbClr val="009688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18745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0040" y="2157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توزيع الحالات 0-3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50592" y="804672"/>
            <a:ext cx="2011680" cy="1810512"/>
          </a:xfrm>
          <a:prstGeom prst="roundedRect">
            <a:avLst>
              <a:gd name="adj" fmla="val 606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00BCD4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914400"/>
            <a:ext cx="1792224" cy="914400"/>
          </a:xfrm>
          <a:prstGeom prst="roundedRect">
            <a:avLst>
              <a:gd name="adj" fmla="val 7000"/>
            </a:avLst>
          </a:prstGeom>
          <a:solidFill>
            <a:srgbClr val="0D2B5C"/>
          </a:solidFill>
          <a:ln/>
        </p:spPr>
      </p:sp>
      <p:sp>
        <p:nvSpPr>
          <p:cNvPr id="15" name="Shape 12"/>
          <p:cNvSpPr/>
          <p:nvPr/>
        </p:nvSpPr>
        <p:spPr>
          <a:xfrm>
            <a:off x="2724912" y="1600200"/>
            <a:ext cx="228600" cy="228600"/>
          </a:xfrm>
          <a:prstGeom prst="rect">
            <a:avLst/>
          </a:prstGeom>
          <a:solidFill>
            <a:srgbClr val="00BCD4">
              <a:alpha val="8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108960" y="1371600"/>
            <a:ext cx="228600" cy="457200"/>
          </a:xfrm>
          <a:prstGeom prst="rect">
            <a:avLst/>
          </a:prstGeom>
          <a:solidFill>
            <a:srgbClr val="00BCD4">
              <a:alpha val="8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493008" y="1143000"/>
            <a:ext cx="228600" cy="685800"/>
          </a:xfrm>
          <a:prstGeom prst="rect">
            <a:avLst/>
          </a:prstGeom>
          <a:solidFill>
            <a:srgbClr val="00BCD4">
              <a:alpha val="8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877056" y="914400"/>
            <a:ext cx="228600" cy="914400"/>
          </a:xfrm>
          <a:prstGeom prst="rect">
            <a:avLst/>
          </a:prstGeom>
          <a:solidFill>
            <a:srgbClr val="00BCD4">
              <a:alpha val="8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560320" y="1874520"/>
            <a:ext cx="1792224" cy="228600"/>
          </a:xfrm>
          <a:prstGeom prst="roundedRect">
            <a:avLst>
              <a:gd name="adj" fmla="val 20000"/>
            </a:avLst>
          </a:prstGeom>
          <a:solidFill>
            <a:srgbClr val="00BCD4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2560320" y="18745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496312" y="2157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الحالات الجديدة شهرياً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26864" y="804672"/>
            <a:ext cx="2011680" cy="1810512"/>
          </a:xfrm>
          <a:prstGeom prst="roundedRect">
            <a:avLst>
              <a:gd name="adj" fmla="val 606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FFD6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36592" y="914400"/>
            <a:ext cx="1792224" cy="914400"/>
          </a:xfrm>
          <a:prstGeom prst="roundedRect">
            <a:avLst>
              <a:gd name="adj" fmla="val 7000"/>
            </a:avLst>
          </a:prstGeom>
          <a:solidFill>
            <a:srgbClr val="0D2B5C"/>
          </a:solidFill>
          <a:ln/>
        </p:spPr>
      </p:sp>
      <p:sp>
        <p:nvSpPr>
          <p:cNvPr id="24" name="Shape 21"/>
          <p:cNvSpPr/>
          <p:nvPr/>
        </p:nvSpPr>
        <p:spPr>
          <a:xfrm>
            <a:off x="4901184" y="1600200"/>
            <a:ext cx="228600" cy="228600"/>
          </a:xfrm>
          <a:prstGeom prst="rect">
            <a:avLst/>
          </a:prstGeom>
          <a:solidFill>
            <a:srgbClr val="FFD600">
              <a:alpha val="8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285232" y="1371600"/>
            <a:ext cx="228600" cy="457200"/>
          </a:xfrm>
          <a:prstGeom prst="rect">
            <a:avLst/>
          </a:prstGeom>
          <a:solidFill>
            <a:srgbClr val="FFD600">
              <a:alpha val="8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669280" y="1143000"/>
            <a:ext cx="228600" cy="685800"/>
          </a:xfrm>
          <a:prstGeom prst="rect">
            <a:avLst/>
          </a:prstGeom>
          <a:solidFill>
            <a:srgbClr val="FFD600">
              <a:alpha val="8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053328" y="914400"/>
            <a:ext cx="228600" cy="914400"/>
          </a:xfrm>
          <a:prstGeom prst="rect">
            <a:avLst/>
          </a:prstGeom>
          <a:solidFill>
            <a:srgbClr val="FFD600">
              <a:alpha val="8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736592" y="1874520"/>
            <a:ext cx="1792224" cy="228600"/>
          </a:xfrm>
          <a:prstGeom prst="roundedRect">
            <a:avLst>
              <a:gd name="adj" fmla="val 20000"/>
            </a:avLst>
          </a:prstGeom>
          <a:solidFill>
            <a:srgbClr val="FFD600">
              <a:alpha val="3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736592" y="18745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72584" y="2157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المرضى حسب العمر/الجنس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803136" y="804672"/>
            <a:ext cx="2011680" cy="1810512"/>
          </a:xfrm>
          <a:prstGeom prst="roundedRect">
            <a:avLst>
              <a:gd name="adj" fmla="val 606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1E88E5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912864" y="914400"/>
            <a:ext cx="1792224" cy="914400"/>
          </a:xfrm>
          <a:prstGeom prst="roundedRect">
            <a:avLst>
              <a:gd name="adj" fmla="val 7000"/>
            </a:avLst>
          </a:prstGeom>
          <a:solidFill>
            <a:srgbClr val="0D2B5C"/>
          </a:solidFill>
          <a:ln/>
        </p:spPr>
      </p:sp>
      <p:sp>
        <p:nvSpPr>
          <p:cNvPr id="33" name="Shape 30"/>
          <p:cNvSpPr/>
          <p:nvPr/>
        </p:nvSpPr>
        <p:spPr>
          <a:xfrm>
            <a:off x="6940296" y="1261872"/>
            <a:ext cx="1737360" cy="54864"/>
          </a:xfrm>
          <a:prstGeom prst="rect">
            <a:avLst/>
          </a:prstGeom>
          <a:solidFill>
            <a:srgbClr val="1E88E5">
              <a:alpha val="8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912864" y="1874520"/>
            <a:ext cx="1792224" cy="228600"/>
          </a:xfrm>
          <a:prstGeom prst="roundedRect">
            <a:avLst>
              <a:gd name="adj" fmla="val 20000"/>
            </a:avLst>
          </a:prstGeom>
          <a:solidFill>
            <a:srgbClr val="1E88E5">
              <a:alpha val="3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912864" y="18745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848856" y="2157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قراءات السكر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74320" y="2862072"/>
            <a:ext cx="2011680" cy="1810512"/>
          </a:xfrm>
          <a:prstGeom prst="roundedRect">
            <a:avLst>
              <a:gd name="adj" fmla="val 606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43A047">
                <a:alpha val="3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84048" y="2971800"/>
            <a:ext cx="1792224" cy="914400"/>
          </a:xfrm>
          <a:prstGeom prst="roundedRect">
            <a:avLst>
              <a:gd name="adj" fmla="val 7000"/>
            </a:avLst>
          </a:prstGeom>
          <a:solidFill>
            <a:srgbClr val="0D2B5C"/>
          </a:solidFill>
          <a:ln/>
        </p:spPr>
      </p:sp>
      <p:sp>
        <p:nvSpPr>
          <p:cNvPr id="39" name="Shape 36"/>
          <p:cNvSpPr/>
          <p:nvPr/>
        </p:nvSpPr>
        <p:spPr>
          <a:xfrm>
            <a:off x="411480" y="3319272"/>
            <a:ext cx="1737360" cy="54864"/>
          </a:xfrm>
          <a:prstGeom prst="rect">
            <a:avLst/>
          </a:prstGeom>
          <a:solidFill>
            <a:srgbClr val="43A047">
              <a:alpha val="8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84048" y="3931920"/>
            <a:ext cx="1792224" cy="228600"/>
          </a:xfrm>
          <a:prstGeom prst="roundedRect">
            <a:avLst>
              <a:gd name="adj" fmla="val 20000"/>
            </a:avLst>
          </a:prstGeom>
          <a:solidFill>
            <a:srgbClr val="43A047">
              <a:alpha val="3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384048" y="39319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0040" y="4215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دقة تشخيص الـ AI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450592" y="2862072"/>
            <a:ext cx="2011680" cy="1810512"/>
          </a:xfrm>
          <a:prstGeom prst="roundedRect">
            <a:avLst>
              <a:gd name="adj" fmla="val 606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FB8C00">
                <a:alpha val="3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2560320" y="2971800"/>
            <a:ext cx="1792224" cy="914400"/>
          </a:xfrm>
          <a:prstGeom prst="roundedRect">
            <a:avLst>
              <a:gd name="adj" fmla="val 7000"/>
            </a:avLst>
          </a:prstGeom>
          <a:solidFill>
            <a:srgbClr val="0D2B5C"/>
          </a:solidFill>
          <a:ln/>
        </p:spPr>
      </p:sp>
      <p:sp>
        <p:nvSpPr>
          <p:cNvPr id="45" name="Shape 42"/>
          <p:cNvSpPr/>
          <p:nvPr/>
        </p:nvSpPr>
        <p:spPr>
          <a:xfrm>
            <a:off x="2907792" y="3044952"/>
            <a:ext cx="731520" cy="731520"/>
          </a:xfrm>
          <a:prstGeom prst="ellipse">
            <a:avLst/>
          </a:prstGeom>
          <a:solidFill>
            <a:srgbClr val="FB8C00">
              <a:alpha val="7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3136392" y="3227832"/>
            <a:ext cx="320040" cy="320040"/>
          </a:xfrm>
          <a:prstGeom prst="ellipse">
            <a:avLst/>
          </a:prstGeom>
          <a:solidFill>
            <a:srgbClr val="0D2B5C"/>
          </a:solidFill>
          <a:ln/>
        </p:spPr>
      </p:sp>
      <p:sp>
        <p:nvSpPr>
          <p:cNvPr id="47" name="Shape 44"/>
          <p:cNvSpPr/>
          <p:nvPr/>
        </p:nvSpPr>
        <p:spPr>
          <a:xfrm>
            <a:off x="2560320" y="3931920"/>
            <a:ext cx="1792224" cy="228600"/>
          </a:xfrm>
          <a:prstGeom prst="roundedRect">
            <a:avLst>
              <a:gd name="adj" fmla="val 20000"/>
            </a:avLst>
          </a:prstGeom>
          <a:solidFill>
            <a:srgbClr val="FB8C00">
              <a:alpha val="3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2560320" y="39319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496312" y="4215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نص vs صورة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626864" y="2862072"/>
            <a:ext cx="2011680" cy="1810512"/>
          </a:xfrm>
          <a:prstGeom prst="roundedRect">
            <a:avLst>
              <a:gd name="adj" fmla="val 606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E53935">
                <a:alpha val="3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736592" y="2971800"/>
            <a:ext cx="1792224" cy="914400"/>
          </a:xfrm>
          <a:prstGeom prst="roundedRect">
            <a:avLst>
              <a:gd name="adj" fmla="val 7000"/>
            </a:avLst>
          </a:prstGeom>
          <a:solidFill>
            <a:srgbClr val="0D2B5C"/>
          </a:solidFill>
          <a:ln/>
        </p:spPr>
      </p:sp>
      <p:sp>
        <p:nvSpPr>
          <p:cNvPr id="52" name="Shape 49"/>
          <p:cNvSpPr/>
          <p:nvPr/>
        </p:nvSpPr>
        <p:spPr>
          <a:xfrm>
            <a:off x="4764024" y="3319272"/>
            <a:ext cx="1737360" cy="54864"/>
          </a:xfrm>
          <a:prstGeom prst="rect">
            <a:avLst/>
          </a:prstGeom>
          <a:solidFill>
            <a:srgbClr val="E53935">
              <a:alpha val="8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4736592" y="3931920"/>
            <a:ext cx="1792224" cy="228600"/>
          </a:xfrm>
          <a:prstGeom prst="roundedRect">
            <a:avLst>
              <a:gd name="adj" fmla="val 20000"/>
            </a:avLst>
          </a:prstGeom>
          <a:solidFill>
            <a:srgbClr val="E53935">
              <a:alpha val="30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4736592" y="39319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672584" y="4215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الأعراض الأكثر شيوعاً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803136" y="2862072"/>
            <a:ext cx="2011680" cy="1810512"/>
          </a:xfrm>
          <a:prstGeom prst="roundedRect">
            <a:avLst>
              <a:gd name="adj" fmla="val 6061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27000" dist="50800" dir="2700000">
              <a:srgbClr val="FFD600">
                <a:alpha val="30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6912864" y="2971800"/>
            <a:ext cx="1792224" cy="914400"/>
          </a:xfrm>
          <a:prstGeom prst="roundedRect">
            <a:avLst>
              <a:gd name="adj" fmla="val 7000"/>
            </a:avLst>
          </a:prstGeom>
          <a:solidFill>
            <a:srgbClr val="0D2B5C"/>
          </a:solidFill>
          <a:ln/>
        </p:spPr>
      </p:sp>
      <p:sp>
        <p:nvSpPr>
          <p:cNvPr id="58" name="Shape 55"/>
          <p:cNvSpPr/>
          <p:nvPr/>
        </p:nvSpPr>
        <p:spPr>
          <a:xfrm>
            <a:off x="6940296" y="3319272"/>
            <a:ext cx="1737360" cy="54864"/>
          </a:xfrm>
          <a:prstGeom prst="rect">
            <a:avLst/>
          </a:prstGeom>
          <a:solidFill>
            <a:srgbClr val="FFD600">
              <a:alpha val="8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912864" y="3931920"/>
            <a:ext cx="1792224" cy="228600"/>
          </a:xfrm>
          <a:prstGeom prst="roundedRect">
            <a:avLst>
              <a:gd name="adj" fmla="val 20000"/>
            </a:avLst>
          </a:prstGeom>
          <a:solidFill>
            <a:srgbClr val="FFD600">
              <a:alpha val="30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6912864" y="39319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848856" y="4215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مدة الجلسة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5486400" cy="54864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GlucoCheck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patients with AI-driven insights for better diabetes management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371600" y="3493008"/>
            <a:ext cx="6400800" cy="548640"/>
          </a:xfrm>
          <a:prstGeom prst="roundedRect">
            <a:avLst>
              <a:gd name="adj" fmla="val 23333"/>
            </a:avLst>
          </a:prstGeom>
          <a:solidFill>
            <a:srgbClr val="132952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35112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 •  Secure  •  Scalable  •  Arabic-First  •  Open Analytics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4297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Esmail   •   Ziad Mohamed   •   Kareem Mohamed   •   Eslam Mohamed   •   Abdul Rahman Mohamed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45720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GlucoCheck — Smart Diabetes Diagnosis Agent</dc:title>
  <dc:subject>PptxGenJS Presentation</dc:subject>
  <dc:creator>GlucoCheck Team</dc:creator>
  <cp:lastModifiedBy>GlucoCheck Team</cp:lastModifiedBy>
  <cp:revision>1</cp:revision>
  <dcterms:created xsi:type="dcterms:W3CDTF">2026-06-11T20:04:34Z</dcterms:created>
  <dcterms:modified xsi:type="dcterms:W3CDTF">2026-06-11T20:04:34Z</dcterms:modified>
</cp:coreProperties>
</file>